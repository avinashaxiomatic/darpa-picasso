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59" r:id="rId4"/>
  </p:sldMasterIdLst>
  <p:notesMasterIdLst>
    <p:notesMasterId r:id="rId6"/>
  </p:notesMasterIdLst>
  <p:handoutMasterIdLst>
    <p:handoutMasterId r:id="rId7"/>
  </p:handoutMasterIdLst>
  <p:sldIdLst>
    <p:sldId id="280" r:id="rId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288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EA74A-E967-462F-989F-A0943523FC07}" v="3" dt="2026-01-09T20:18:54.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0" autoAdjust="0"/>
    <p:restoredTop sz="91074" autoAdjust="0"/>
  </p:normalViewPr>
  <p:slideViewPr>
    <p:cSldViewPr snapToGrid="0" showGuides="1">
      <p:cViewPr varScale="1">
        <p:scale>
          <a:sx n="75" d="100"/>
          <a:sy n="75" d="100"/>
        </p:scale>
        <p:origin x="1502" y="48"/>
      </p:cViewPr>
      <p:guideLst>
        <p:guide orient="horz" pos="2162"/>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88" d="100"/>
          <a:sy n="88" d="100"/>
        </p:scale>
        <p:origin x="-2310" y="-12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goslovov, Radoslav (contr-mto)" userId="8dc2c4de-bcb3-403a-850c-e05b2ee442ea" providerId="ADAL" clId="{9803B556-BF8D-4864-AE8B-9B0A1C650238}"/>
    <pc:docChg chg="undo custSel modSld modMainMaster">
      <pc:chgData name="Bogoslovov, Radoslav (contr-mto)" userId="8dc2c4de-bcb3-403a-850c-e05b2ee442ea" providerId="ADAL" clId="{9803B556-BF8D-4864-AE8B-9B0A1C650238}" dt="2026-01-09T20:19:36.365" v="383" actId="120"/>
      <pc:docMkLst>
        <pc:docMk/>
      </pc:docMkLst>
      <pc:sldChg chg="modSp mod">
        <pc:chgData name="Bogoslovov, Radoslav (contr-mto)" userId="8dc2c4de-bcb3-403a-850c-e05b2ee442ea" providerId="ADAL" clId="{9803B556-BF8D-4864-AE8B-9B0A1C650238}" dt="2026-01-09T20:19:36.365" v="383" actId="120"/>
        <pc:sldMkLst>
          <pc:docMk/>
          <pc:sldMk cId="3769729806" sldId="280"/>
        </pc:sldMkLst>
        <pc:spChg chg="mod">
          <ac:chgData name="Bogoslovov, Radoslav (contr-mto)" userId="8dc2c4de-bcb3-403a-850c-e05b2ee442ea" providerId="ADAL" clId="{9803B556-BF8D-4864-AE8B-9B0A1C650238}" dt="2026-01-09T20:01:28.414" v="9" actId="207"/>
          <ac:spMkLst>
            <pc:docMk/>
            <pc:sldMk cId="3769729806" sldId="280"/>
            <ac:spMk id="2" creationId="{00000000-0000-0000-0000-000000000000}"/>
          </ac:spMkLst>
        </pc:spChg>
        <pc:spChg chg="mod">
          <ac:chgData name="Bogoslovov, Radoslav (contr-mto)" userId="8dc2c4de-bcb3-403a-850c-e05b2ee442ea" providerId="ADAL" clId="{9803B556-BF8D-4864-AE8B-9B0A1C650238}" dt="2026-01-09T20:07:15.759" v="78" actId="313"/>
          <ac:spMkLst>
            <pc:docMk/>
            <pc:sldMk cId="3769729806" sldId="280"/>
            <ac:spMk id="4" creationId="{00000000-0000-0000-0000-000000000000}"/>
          </ac:spMkLst>
        </pc:spChg>
        <pc:spChg chg="mod">
          <ac:chgData name="Bogoslovov, Radoslav (contr-mto)" userId="8dc2c4de-bcb3-403a-850c-e05b2ee442ea" providerId="ADAL" clId="{9803B556-BF8D-4864-AE8B-9B0A1C650238}" dt="2026-01-09T20:19:02.850" v="382" actId="20577"/>
          <ac:spMkLst>
            <pc:docMk/>
            <pc:sldMk cId="3769729806" sldId="280"/>
            <ac:spMk id="8" creationId="{00000000-0000-0000-0000-000000000000}"/>
          </ac:spMkLst>
        </pc:spChg>
        <pc:spChg chg="mod">
          <ac:chgData name="Bogoslovov, Radoslav (contr-mto)" userId="8dc2c4de-bcb3-403a-850c-e05b2ee442ea" providerId="ADAL" clId="{9803B556-BF8D-4864-AE8B-9B0A1C650238}" dt="2026-01-09T20:05:12.415" v="12" actId="207"/>
          <ac:spMkLst>
            <pc:docMk/>
            <pc:sldMk cId="3769729806" sldId="280"/>
            <ac:spMk id="12" creationId="{00000000-0000-0000-0000-000000000000}"/>
          </ac:spMkLst>
        </pc:spChg>
        <pc:spChg chg="mod">
          <ac:chgData name="Bogoslovov, Radoslav (contr-mto)" userId="8dc2c4de-bcb3-403a-850c-e05b2ee442ea" providerId="ADAL" clId="{9803B556-BF8D-4864-AE8B-9B0A1C650238}" dt="2026-01-09T20:19:36.365" v="383" actId="120"/>
          <ac:spMkLst>
            <pc:docMk/>
            <pc:sldMk cId="3769729806" sldId="280"/>
            <ac:spMk id="13" creationId="{00000000-0000-0000-0000-000000000000}"/>
          </ac:spMkLst>
        </pc:spChg>
      </pc:sldChg>
      <pc:sldMasterChg chg="modSldLayout">
        <pc:chgData name="Bogoslovov, Radoslav (contr-mto)" userId="8dc2c4de-bcb3-403a-850c-e05b2ee442ea" providerId="ADAL" clId="{9803B556-BF8D-4864-AE8B-9B0A1C650238}" dt="2026-01-09T20:15:26.734" v="231" actId="20577"/>
        <pc:sldMasterMkLst>
          <pc:docMk/>
          <pc:sldMasterMk cId="1211192292" sldId="2147483759"/>
        </pc:sldMasterMkLst>
        <pc:sldLayoutChg chg="modSp mod">
          <pc:chgData name="Bogoslovov, Radoslav (contr-mto)" userId="8dc2c4de-bcb3-403a-850c-e05b2ee442ea" providerId="ADAL" clId="{9803B556-BF8D-4864-AE8B-9B0A1C650238}" dt="2026-01-09T20:15:26.734" v="231" actId="20577"/>
          <pc:sldLayoutMkLst>
            <pc:docMk/>
            <pc:sldMasterMk cId="1211192292" sldId="2147483759"/>
            <pc:sldLayoutMk cId="1270237370" sldId="2147483764"/>
          </pc:sldLayoutMkLst>
          <pc:spChg chg="mod">
            <ac:chgData name="Bogoslovov, Radoslav (contr-mto)" userId="8dc2c4de-bcb3-403a-850c-e05b2ee442ea" providerId="ADAL" clId="{9803B556-BF8D-4864-AE8B-9B0A1C650238}" dt="2026-01-09T20:10:17.843" v="118" actId="20577"/>
            <ac:spMkLst>
              <pc:docMk/>
              <pc:sldMasterMk cId="1211192292" sldId="2147483759"/>
              <pc:sldLayoutMk cId="1270237370" sldId="2147483764"/>
              <ac:spMk id="12" creationId="{00000000-0000-0000-0000-000000000000}"/>
            </ac:spMkLst>
          </pc:spChg>
          <pc:spChg chg="mod">
            <ac:chgData name="Bogoslovov, Radoslav (contr-mto)" userId="8dc2c4de-bcb3-403a-850c-e05b2ee442ea" providerId="ADAL" clId="{9803B556-BF8D-4864-AE8B-9B0A1C650238}" dt="2026-01-09T20:15:26.734" v="231" actId="20577"/>
            <ac:spMkLst>
              <pc:docMk/>
              <pc:sldMasterMk cId="1211192292" sldId="2147483759"/>
              <pc:sldLayoutMk cId="1270237370" sldId="2147483764"/>
              <ac:spMk id="14"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45904C4-010F-4896-9D22-0FDDB5A0FF93}" type="datetimeFigureOut">
              <a:rPr lang="en-US" smtClean="0">
                <a:solidFill>
                  <a:schemeClr val="bg1">
                    <a:lumMod val="65000"/>
                  </a:schemeClr>
                </a:solidFill>
                <a:latin typeface="Tahoma" pitchFamily="34" charset="0"/>
                <a:ea typeface="Tahoma" pitchFamily="34" charset="0"/>
                <a:cs typeface="Tahoma" pitchFamily="34" charset="0"/>
              </a:rPr>
              <a:pPr/>
              <a:t>1/12/2026</a:t>
            </a:fld>
            <a:endParaRPr lang="en-US" dirty="0">
              <a:solidFill>
                <a:schemeClr val="bg1">
                  <a:lumMod val="65000"/>
                </a:schemeClr>
              </a:solidFill>
              <a:latin typeface="Tahoma" pitchFamily="34" charset="0"/>
              <a:ea typeface="Tahoma" pitchFamily="34" charset="0"/>
              <a:cs typeface="Tahoma" pitchFamily="34"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dirty="0">
                <a:solidFill>
                  <a:schemeClr val="bg1">
                    <a:lumMod val="65000"/>
                  </a:schemeClr>
                </a:solidFill>
                <a:latin typeface="Tahoma" pitchFamily="34" charset="0"/>
                <a:ea typeface="Tahoma" pitchFamily="34" charset="0"/>
                <a:cs typeface="Tahoma" pitchFamily="34" charset="0"/>
              </a:rPr>
              <a:t>Distribution Statement</a:t>
            </a: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899D1F1-6DC0-4977-808C-FD0BF7AD2565}" type="slidenum">
              <a:rPr lang="en-US" smtClean="0">
                <a:solidFill>
                  <a:schemeClr val="bg1">
                    <a:lumMod val="65000"/>
                  </a:schemeClr>
                </a:solidFill>
                <a:latin typeface="Tahoma" pitchFamily="34" charset="0"/>
                <a:ea typeface="Tahoma" pitchFamily="34" charset="0"/>
                <a:cs typeface="Tahoma" pitchFamily="34" charset="0"/>
              </a:rPr>
              <a:pPr/>
              <a:t>‹#›</a:t>
            </a:fld>
            <a:endParaRPr lang="en-US" dirty="0">
              <a:solidFill>
                <a:schemeClr val="bg1">
                  <a:lumMod val="65000"/>
                </a:schemeClr>
              </a:solidFill>
              <a:latin typeface="Tahoma" pitchFamily="34" charset="0"/>
              <a:ea typeface="Tahoma" pitchFamily="34" charset="0"/>
              <a:cs typeface="Tahoma" pitchFamily="34" charset="0"/>
            </a:endParaRPr>
          </a:p>
        </p:txBody>
      </p:sp>
      <p:pic>
        <p:nvPicPr>
          <p:cNvPr id="6"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4592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solidFill>
                  <a:schemeClr val="bg1">
                    <a:lumMod val="65000"/>
                  </a:schemeClr>
                </a:solidFill>
                <a:latin typeface="Tahoma" pitchFamily="34" charset="0"/>
                <a:ea typeface="Tahoma" pitchFamily="34" charset="0"/>
                <a:cs typeface="Tahoma" pitchFamily="34" charset="0"/>
              </a:defRPr>
            </a:lvl1pPr>
          </a:lstStyle>
          <a:p>
            <a:fld id="{92715C0D-0E45-40B4-BE1B-664AAA8E6B7F}" type="datetimeFigureOut">
              <a:rPr lang="en-US" smtClean="0"/>
              <a:pPr/>
              <a:t>1/12/2026</a:t>
            </a:fld>
            <a:endParaRPr lang="en-US" dirty="0"/>
          </a:p>
        </p:txBody>
      </p:sp>
      <p:sp>
        <p:nvSpPr>
          <p:cNvPr id="4" name="Slide Image Placeholder 3"/>
          <p:cNvSpPr>
            <a:spLocks noGrp="1" noRot="1" noChangeAspect="1"/>
          </p:cNvSpPr>
          <p:nvPr>
            <p:ph type="sldImg" idx="2"/>
          </p:nvPr>
        </p:nvSpPr>
        <p:spPr>
          <a:xfrm>
            <a:off x="1181100" y="895350"/>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648200"/>
            <a:ext cx="5608320" cy="3950970"/>
          </a:xfrm>
          <a:prstGeom prst="rect">
            <a:avLst/>
          </a:prstGeom>
        </p:spPr>
        <p:txBody>
          <a:bodyPr vert="horz" lIns="93177" tIns="46589" rIns="93177" bIns="4658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solidFill>
                  <a:schemeClr val="bg1">
                    <a:lumMod val="65000"/>
                  </a:schemeClr>
                </a:solidFill>
                <a:latin typeface="Tahoma" pitchFamily="34" charset="0"/>
                <a:ea typeface="Tahoma" pitchFamily="34" charset="0"/>
                <a:cs typeface="Tahoma" pitchFamily="34" charset="0"/>
              </a:defRPr>
            </a:lvl1pPr>
          </a:lstStyle>
          <a:p>
            <a:r>
              <a:rPr lang="en-US" dirty="0"/>
              <a:t>Distribution Statement</a:t>
            </a:r>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solidFill>
                  <a:schemeClr val="bg1">
                    <a:lumMod val="65000"/>
                  </a:schemeClr>
                </a:solidFill>
                <a:latin typeface="Tahoma" pitchFamily="34" charset="0"/>
                <a:ea typeface="Tahoma" pitchFamily="34" charset="0"/>
                <a:cs typeface="Tahoma" pitchFamily="34" charset="0"/>
              </a:defRPr>
            </a:lvl1pPr>
          </a:lstStyle>
          <a:p>
            <a:fld id="{639B577F-6036-4BCD-9021-A736CBC28733}" type="slidenum">
              <a:rPr lang="en-US" smtClean="0"/>
              <a:pPr/>
              <a:t>‹#›</a:t>
            </a:fld>
            <a:endParaRPr lang="en-US" dirty="0"/>
          </a:p>
        </p:txBody>
      </p:sp>
      <p:pic>
        <p:nvPicPr>
          <p:cNvPr id="8"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863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ahoma" pitchFamily="34" charset="0"/>
        <a:ea typeface="Tahoma" pitchFamily="34" charset="0"/>
        <a:cs typeface="Tahoma" pitchFamily="34" charset="0"/>
      </a:defRPr>
    </a:lvl1pPr>
    <a:lvl2pPr marL="457200" algn="l" defTabSz="914400" rtl="0" eaLnBrk="1" latinLnBrk="0" hangingPunct="1">
      <a:defRPr sz="1200" kern="1200">
        <a:solidFill>
          <a:schemeClr val="tx1"/>
        </a:solidFill>
        <a:latin typeface="Tahoma" pitchFamily="34" charset="0"/>
        <a:ea typeface="Tahoma" pitchFamily="34" charset="0"/>
        <a:cs typeface="Tahoma" pitchFamily="34" charset="0"/>
      </a:defRPr>
    </a:lvl2pPr>
    <a:lvl3pPr marL="914400" algn="l" defTabSz="914400" rtl="0" eaLnBrk="1" latinLnBrk="0" hangingPunct="1">
      <a:defRPr sz="1200" kern="1200">
        <a:solidFill>
          <a:schemeClr val="tx1"/>
        </a:solidFill>
        <a:latin typeface="Tahoma" pitchFamily="34" charset="0"/>
        <a:ea typeface="Tahoma" pitchFamily="34" charset="0"/>
        <a:cs typeface="Tahoma" pitchFamily="34" charset="0"/>
      </a:defRPr>
    </a:lvl3pPr>
    <a:lvl4pPr marL="1371600" algn="l" defTabSz="914400" rtl="0" eaLnBrk="1" latinLnBrk="0" hangingPunct="1">
      <a:defRPr sz="1200" kern="1200">
        <a:solidFill>
          <a:schemeClr val="tx1"/>
        </a:solidFill>
        <a:latin typeface="Tahoma" pitchFamily="34" charset="0"/>
        <a:ea typeface="Tahoma" pitchFamily="34" charset="0"/>
        <a:cs typeface="Tahoma" pitchFamily="34" charset="0"/>
      </a:defRPr>
    </a:lvl4pPr>
    <a:lvl5pPr marL="1828800" algn="l" defTabSz="914400" rtl="0" eaLnBrk="1" latinLnBrk="0" hangingPunct="1">
      <a:defRPr sz="1200" kern="1200">
        <a:solidFill>
          <a:schemeClr val="tx1"/>
        </a:solidFill>
        <a:latin typeface="Tahoma" pitchFamily="34" charset="0"/>
        <a:ea typeface="Tahoma" pitchFamily="34" charset="0"/>
        <a:cs typeface="Tahoma"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9B577F-6036-4BCD-9021-A736CBC28733}"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4615287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add briefer names</a:t>
            </a:r>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a:latin typeface="Tahoma" charset="0"/>
              </a:rPr>
              <a:t>Click to edit Date</a:t>
            </a:r>
          </a:p>
        </p:txBody>
      </p:sp>
    </p:spTree>
    <p:extLst>
      <p:ext uri="{BB962C8B-B14F-4D97-AF65-F5344CB8AC3E}">
        <p14:creationId xmlns:p14="http://schemas.microsoft.com/office/powerpoint/2010/main" val="342142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171973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543357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a:t>CLICK TO EDIT MASTER TITLE STYLE</a:t>
            </a:r>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751012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cxnSp>
        <p:nvCxnSpPr>
          <p:cNvPr id="8" name="Straight Connector 7"/>
          <p:cNvCxnSpPr>
            <a:endCxn id="3" idx="0"/>
          </p:cNvCxnSpPr>
          <p:nvPr userDrawn="1"/>
        </p:nvCxnSpPr>
        <p:spPr>
          <a:xfrm flipH="1">
            <a:off x="4572000" y="841688"/>
            <a:ext cx="12825" cy="5708338"/>
          </a:xfrm>
          <a:prstGeom prst="line">
            <a:avLst/>
          </a:prstGeom>
          <a:ln w="317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81000" y="3657600"/>
            <a:ext cx="84582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1390050" y="893550"/>
            <a:ext cx="198120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CONCEPT</a:t>
            </a:r>
            <a:endParaRPr lang="en-US" sz="1200" b="1" dirty="0">
              <a:solidFill>
                <a:prstClr val="black"/>
              </a:solidFill>
              <a:latin typeface="Calibri" panose="020F0502020204030204" pitchFamily="34" charset="0"/>
              <a:cs typeface="Calibri" panose="020F0502020204030204" pitchFamily="34" charset="0"/>
            </a:endParaRPr>
          </a:p>
        </p:txBody>
      </p:sp>
      <p:sp>
        <p:nvSpPr>
          <p:cNvPr id="12" name="TextBox 11"/>
          <p:cNvSpPr txBox="1"/>
          <p:nvPr userDrawn="1"/>
        </p:nvSpPr>
        <p:spPr>
          <a:xfrm>
            <a:off x="932850" y="3657600"/>
            <a:ext cx="289560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APPLICATIONS AND IMPACT</a:t>
            </a:r>
            <a:endParaRPr lang="en-US" sz="1200" b="1" dirty="0">
              <a:solidFill>
                <a:prstClr val="black"/>
              </a:solidFill>
              <a:latin typeface="Calibri" panose="020F0502020204030204" pitchFamily="34" charset="0"/>
              <a:cs typeface="Calibri" panose="020F0502020204030204" pitchFamily="34" charset="0"/>
            </a:endParaRPr>
          </a:p>
        </p:txBody>
      </p:sp>
      <p:sp>
        <p:nvSpPr>
          <p:cNvPr id="14" name="TextBox 13"/>
          <p:cNvSpPr txBox="1"/>
          <p:nvPr userDrawn="1"/>
        </p:nvSpPr>
        <p:spPr>
          <a:xfrm>
            <a:off x="5087750" y="3676050"/>
            <a:ext cx="329565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TEAM AND CAPABILITIES</a:t>
            </a:r>
            <a:endParaRPr lang="en-US" sz="1200" b="1" dirty="0">
              <a:solidFill>
                <a:prstClr val="black"/>
              </a:solidFill>
              <a:latin typeface="Calibri" panose="020F0502020204030204" pitchFamily="34" charset="0"/>
              <a:cs typeface="Calibri" panose="020F0502020204030204" pitchFamily="34" charset="0"/>
            </a:endParaRPr>
          </a:p>
        </p:txBody>
      </p:sp>
      <p:sp>
        <p:nvSpPr>
          <p:cNvPr id="15" name="TextBox 13"/>
          <p:cNvSpPr txBox="1"/>
          <p:nvPr userDrawn="1"/>
        </p:nvSpPr>
        <p:spPr>
          <a:xfrm>
            <a:off x="4693641" y="933573"/>
            <a:ext cx="3909268"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libri" panose="020F0502020204030204" pitchFamily="34" charset="0"/>
                <a:cs typeface="Calibri" panose="020F0502020204030204" pitchFamily="34" charset="0"/>
              </a:rPr>
              <a:t>APPROACH</a:t>
            </a:r>
            <a:endParaRPr lang="en-US" sz="1200" b="1"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0237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02521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4676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2205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89642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8664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86321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a:t>Click to edit Master text styles</a:t>
            </a:r>
          </a:p>
          <a:p>
            <a:pPr lvl="1"/>
            <a:r>
              <a:rPr lang="en-US"/>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8958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a:solidFill>
                  <a:prstClr val="black"/>
                </a:solidFill>
                <a:ea typeface="Tahoma" pitchFamily="34" charset="0"/>
                <a:cs typeface="Tahoma" pitchFamily="34" charset="0"/>
              </a:rPr>
              <a:t>www.darpa.mil</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1599056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Concept</a:t>
            </a: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Prototype</a:t>
            </a: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Field Demonstration</a:t>
            </a: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a:solidFill>
                  <a:srgbClr val="000000"/>
                </a:solidFill>
                <a:ea typeface="MS PGothic"/>
                <a:cs typeface="MS PGothic"/>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dirty="0">
                <a:solidFill>
                  <a:srgbClr val="000000"/>
                </a:solidFill>
                <a:ea typeface="MS PGothic"/>
                <a:cs typeface="MS PGothic"/>
              </a:rPr>
              <a:t>Staffer: Names and locations of performers. </a:t>
            </a:r>
          </a:p>
          <a:p>
            <a:pPr marL="742950" lvl="1" indent="-285750" fontAlgn="base">
              <a:spcBef>
                <a:spcPct val="20000"/>
              </a:spcBef>
              <a:buFont typeface="Arial" pitchFamily="34" charset="0"/>
              <a:buChar char="•"/>
              <a:defRPr/>
            </a:pPr>
            <a:r>
              <a:rPr lang="en-US" sz="1200" dirty="0">
                <a:solidFill>
                  <a:srgbClr val="000000"/>
                </a:solidFill>
                <a:ea typeface="MS PGothic"/>
                <a:cs typeface="MS PGothic"/>
              </a:rPr>
              <a:t>Internal DARPA: Issues/challenges and a spend plan status. </a:t>
            </a:r>
            <a:endParaRPr lang="en-US" sz="1200" dirty="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endParaRPr lang="en-US" sz="1200" dirty="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r>
              <a:rPr lang="en-US" sz="1200" dirty="0">
                <a:solidFill>
                  <a:srgbClr val="000000"/>
                </a:solidFill>
                <a:ea typeface="MS PGothic"/>
                <a:cs typeface="MS PGothic"/>
              </a:rPr>
              <a:t>Formatting for both the internal DARPA and staffer quads:  </a:t>
            </a:r>
            <a:endParaRPr lang="en-US" sz="1200" dirty="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Font: </a:t>
            </a:r>
            <a:r>
              <a:rPr lang="en-US" sz="1200" dirty="0">
                <a:solidFill>
                  <a:srgbClr val="000000"/>
                </a:solidFill>
                <a:ea typeface="MS PGothic"/>
                <a:cs typeface="MS PGothic"/>
              </a:rPr>
              <a:t>Tahoma</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Color: </a:t>
            </a:r>
            <a:r>
              <a:rPr lang="en-US" sz="1200" dirty="0">
                <a:solidFill>
                  <a:srgbClr val="000000"/>
                </a:solidFill>
                <a:ea typeface="MS PGothic"/>
                <a:cs typeface="MS PGothic"/>
              </a:rPr>
              <a:t>Font color = black</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Sizes: </a:t>
            </a:r>
            <a:r>
              <a:rPr lang="en-US" sz="1200" dirty="0">
                <a:solidFill>
                  <a:srgbClr val="000000"/>
                </a:solidFill>
                <a:ea typeface="MS PGothic"/>
                <a:cs typeface="MS PGothic"/>
              </a:rPr>
              <a:t>Font size is set at 12 pt., decreasing to 11 pt. and 9 pt. for sub-bullets.  (Recognizing that some programs will have more information needed on the quad charts than others, text size may be reduced but, for ease of </a:t>
            </a:r>
            <a:br>
              <a:rPr lang="en-US" sz="1200" dirty="0">
                <a:solidFill>
                  <a:srgbClr val="000000"/>
                </a:solidFill>
                <a:ea typeface="MS PGothic"/>
                <a:cs typeface="MS PGothic"/>
              </a:rPr>
            </a:br>
            <a:r>
              <a:rPr lang="en-US" sz="1200" dirty="0">
                <a:solidFill>
                  <a:srgbClr val="000000"/>
                </a:solidFill>
                <a:ea typeface="MS PGothic"/>
                <a:cs typeface="MS PGothic"/>
              </a:rPr>
              <a:t>reading, should never be smaller than 9 pt.) </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Font style: </a:t>
            </a:r>
            <a:r>
              <a:rPr lang="en-US" sz="1200" dirty="0">
                <a:solidFill>
                  <a:srgbClr val="000000"/>
                </a:solidFill>
                <a:ea typeface="MS PGothic"/>
                <a:cs typeface="MS PGothic"/>
              </a:rPr>
              <a:t>Avoid the use of bold unless needed</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Bullets and sub-bullets: </a:t>
            </a:r>
            <a:r>
              <a:rPr lang="en-US" sz="1200" dirty="0">
                <a:solidFill>
                  <a:srgbClr val="000000"/>
                </a:solidFill>
                <a:ea typeface="MS PGothic"/>
                <a:cs typeface="MS PGothic"/>
              </a:rPr>
              <a:t>Solid dots</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Status Boxes: </a:t>
            </a:r>
            <a:r>
              <a:rPr lang="en-US" sz="1200" dirty="0">
                <a:solidFill>
                  <a:srgbClr val="000000"/>
                </a:solidFill>
                <a:ea typeface="MS PGothic"/>
                <a:cs typeface="MS PGothic"/>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14396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68876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3" name="Footer Placeholder 2"/>
          <p:cNvSpPr>
            <a:spLocks noGrp="1"/>
          </p:cNvSpPr>
          <p:nvPr userDrawn="1">
            <p:ph type="ftr" sz="quarter" idx="10"/>
          </p:nvPr>
        </p:nvSpPr>
        <p:spPr/>
        <p:txBody>
          <a:bodyPr/>
          <a:lstStyle/>
          <a:p>
            <a:pPr>
              <a:defRPr/>
            </a:pPr>
            <a:r>
              <a:rPr lang="en-US"/>
              <a:t>DARPA-BAA-14-62    ICONS  </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74325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3" name="Footer Placeholder 2"/>
          <p:cNvSpPr>
            <a:spLocks noGrp="1"/>
          </p:cNvSpPr>
          <p:nvPr userDrawn="1">
            <p:ph type="ftr" sz="quarter" idx="10"/>
          </p:nvPr>
        </p:nvSpPr>
        <p:spPr/>
        <p:txBody>
          <a:bodyPr/>
          <a:lstStyle/>
          <a:p>
            <a:pPr>
              <a:defRPr/>
            </a:pPr>
            <a:r>
              <a:rPr lang="en-US"/>
              <a:t>DARPA-BAA-14-62    ICONS  </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59017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57128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15989124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54818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756223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6084832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39003935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879154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684453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045045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783532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r>
              <a:rPr lang="en-US"/>
              <a:t>DARPA-BAA-14-62    ICONS  </a:t>
            </a:r>
            <a:endParaRPr lang="en-US" dirty="0"/>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pPr>
                <a:defRPr/>
              </a:pPr>
              <a:t>‹#›</a:t>
            </a:fld>
            <a:endParaRPr lang="en-US"/>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Tree>
    <p:extLst>
      <p:ext uri="{BB962C8B-B14F-4D97-AF65-F5344CB8AC3E}">
        <p14:creationId xmlns:p14="http://schemas.microsoft.com/office/powerpoint/2010/main" val="121119229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Lst>
  <p:hf hdr="0" dt="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latin typeface="Calibri" panose="020F0502020204030204" pitchFamily="34" charset="0"/>
                <a:cs typeface="Calibri" panose="020F0502020204030204" pitchFamily="34" charset="0"/>
              </a:rPr>
              <a:pPr/>
              <a:t>1</a:t>
            </a:fld>
            <a:endParaRPr lang="en-US" dirty="0">
              <a:latin typeface="Calibri" panose="020F0502020204030204" pitchFamily="34" charset="0"/>
              <a:cs typeface="Calibri" panose="020F0502020204030204" pitchFamily="34" charset="0"/>
            </a:endParaRPr>
          </a:p>
        </p:txBody>
      </p:sp>
      <p:sp>
        <p:nvSpPr>
          <p:cNvPr id="6" name="Title 17"/>
          <p:cNvSpPr txBox="1">
            <a:spLocks noGrp="1"/>
          </p:cNvSpPr>
          <p:nvPr>
            <p:ph type="ctrTitle"/>
          </p:nvPr>
        </p:nvSpPr>
        <p:spPr>
          <a:xfrm>
            <a:off x="406554" y="162570"/>
            <a:ext cx="5471732" cy="612648"/>
          </a:xfrm>
          <a:prstGeom prst="rect">
            <a:avLst/>
          </a:prstGeom>
        </p:spPr>
        <p:txBody>
          <a:bodyPr>
            <a:normAutofit fontScale="90000"/>
          </a:bodyPr>
          <a:lstStyle/>
          <a:p>
            <a:pPr lvl="0" fontAlgn="base">
              <a:spcAft>
                <a:spcPct val="0"/>
              </a:spcAft>
              <a:defRPr/>
            </a:pPr>
            <a:r>
              <a:rPr kumimoji="0" lang="en-US" sz="2400" b="1" i="0" u="none" strike="noStrike" kern="1200" cap="none" spc="0" normalizeH="0" noProof="0" dirty="0">
                <a:ln>
                  <a:noFill/>
                </a:ln>
                <a:effectLst/>
                <a:uLnTx/>
                <a:uFillTx/>
                <a:latin typeface="Calibri" panose="020F0502020204030204" pitchFamily="34" charset="0"/>
                <a:ea typeface="ＭＳ Ｐゴシック" pitchFamily="-32" charset="-128"/>
                <a:cs typeface="Calibri" panose="020F0502020204030204" pitchFamily="34" charset="0"/>
              </a:rPr>
              <a:t>Full Proposal </a:t>
            </a:r>
            <a:r>
              <a:rPr kumimoji="0" lang="en-US" sz="2400" b="1" i="0" u="none" strike="noStrike" kern="1200" cap="none" spc="0" normalizeH="0" baseline="0" noProof="0" dirty="0">
                <a:ln>
                  <a:noFill/>
                </a:ln>
                <a:effectLst/>
                <a:uLnTx/>
                <a:uFillTx/>
                <a:latin typeface="Calibri" panose="020F0502020204030204" pitchFamily="34" charset="0"/>
                <a:ea typeface="ＭＳ Ｐゴシック" pitchFamily="-32" charset="-128"/>
                <a:cs typeface="Calibri" panose="020F0502020204030204" pitchFamily="34" charset="0"/>
              </a:rPr>
              <a:t>Title</a:t>
            </a:r>
            <a:br>
              <a:rPr kumimoji="0" lang="en-US" sz="2400" b="0" i="0" u="none" strike="noStrike" kern="1200" cap="none" spc="0" normalizeH="0" baseline="0" noProof="0" dirty="0">
                <a:ln>
                  <a:noFill/>
                </a:ln>
                <a:effectLst/>
                <a:uLnTx/>
                <a:uFillTx/>
                <a:latin typeface="Calibri" panose="020F0502020204030204" pitchFamily="34" charset="0"/>
                <a:ea typeface="ＭＳ Ｐゴシック" pitchFamily="-32" charset="-128"/>
                <a:cs typeface="Calibri" panose="020F0502020204030204" pitchFamily="34" charset="0"/>
              </a:rPr>
            </a:br>
            <a:r>
              <a:rPr lang="en-US" sz="1600" dirty="0">
                <a:latin typeface="Calibri" panose="020F0502020204030204" pitchFamily="34" charset="0"/>
                <a:ea typeface="ＭＳ Ｐゴシック" pitchFamily="-32" charset="-128"/>
                <a:cs typeface="Calibri" panose="020F0502020204030204" pitchFamily="34" charset="0"/>
              </a:rPr>
              <a:t>Organization Name(s); Technical POC Name(s)</a:t>
            </a:r>
            <a:endParaRPr kumimoji="0" lang="en-US" sz="1600" b="0" i="0" u="none" strike="noStrike" kern="1200" cap="none" spc="0" normalizeH="0" baseline="0" noProof="0" dirty="0">
              <a:ln>
                <a:noFill/>
              </a:ln>
              <a:effectLst/>
              <a:uLnTx/>
              <a:uFillTx/>
              <a:latin typeface="Calibri" panose="020F0502020204030204" pitchFamily="34" charset="0"/>
              <a:ea typeface="ＭＳ Ｐゴシック" pitchFamily="-32" charset="-128"/>
              <a:cs typeface="Calibri" panose="020F0502020204030204" pitchFamily="34" charset="0"/>
            </a:endParaRPr>
          </a:p>
        </p:txBody>
      </p:sp>
      <p:sp>
        <p:nvSpPr>
          <p:cNvPr id="12" name="Text Placeholder 17"/>
          <p:cNvSpPr txBox="1">
            <a:spLocks/>
          </p:cNvSpPr>
          <p:nvPr/>
        </p:nvSpPr>
        <p:spPr>
          <a:xfrm>
            <a:off x="500063" y="1195388"/>
            <a:ext cx="3889375" cy="2251075"/>
          </a:xfrm>
          <a:prstGeom prst="rect">
            <a:avLst/>
          </a:prstGeom>
        </p:spPr>
        <p:txBody>
          <a:bodyPr/>
          <a:lstStyle>
            <a:lvl1pPr marL="342900" indent="-34290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FF0000"/>
                </a:solidFill>
                <a:latin typeface="Calibri" panose="020F0502020204030204" pitchFamily="34" charset="0"/>
                <a:cs typeface="Calibri" panose="020F0502020204030204" pitchFamily="34" charset="0"/>
              </a:rPr>
              <a:t>Provide graphic</a:t>
            </a:r>
            <a:r>
              <a:rPr lang="en-US" dirty="0">
                <a:solidFill>
                  <a:srgbClr val="FF0000"/>
                </a:solidFill>
                <a:latin typeface="Calibri" panose="020F0502020204030204" pitchFamily="34" charset="0"/>
                <a:cs typeface="Calibri" panose="020F0502020204030204" pitchFamily="34" charset="0"/>
              </a:rPr>
              <a:t>.</a:t>
            </a:r>
          </a:p>
        </p:txBody>
      </p:sp>
      <p:sp>
        <p:nvSpPr>
          <p:cNvPr id="13" name="Text Placeholder 19"/>
          <p:cNvSpPr txBox="1">
            <a:spLocks/>
          </p:cNvSpPr>
          <p:nvPr/>
        </p:nvSpPr>
        <p:spPr>
          <a:xfrm>
            <a:off x="490538" y="3953049"/>
            <a:ext cx="3956050" cy="2447751"/>
          </a:xfrm>
          <a:prstGeom prst="rect">
            <a:avLst/>
          </a:prstGeom>
        </p:spPr>
        <p:txBody>
          <a:bodyPr/>
          <a:lstStyle>
            <a:lvl1pPr marL="0" indent="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FF0000"/>
                </a:solidFill>
                <a:latin typeface="Calibri" panose="020F0502020204030204" pitchFamily="34" charset="0"/>
                <a:cs typeface="Calibri" panose="020F0502020204030204" pitchFamily="34" charset="0"/>
              </a:rPr>
              <a:t>Describe the targeted high-impact application. Why should DARPA care?</a:t>
            </a:r>
          </a:p>
          <a:p>
            <a:endParaRPr lang="en-US" b="1" dirty="0">
              <a:solidFill>
                <a:srgbClr val="FF0000"/>
              </a:solidFill>
              <a:latin typeface="Calibri" panose="020F0502020204030204" pitchFamily="34" charset="0"/>
              <a:cs typeface="Calibri" panose="020F0502020204030204" pitchFamily="34" charset="0"/>
            </a:endParaRPr>
          </a:p>
          <a:p>
            <a:r>
              <a:rPr lang="en-US" b="1" dirty="0">
                <a:solidFill>
                  <a:srgbClr val="FF0000"/>
                </a:solidFill>
                <a:latin typeface="Calibri" panose="020F0502020204030204" pitchFamily="34" charset="0"/>
                <a:cs typeface="Calibri" panose="020F0502020204030204" pitchFamily="34" charset="0"/>
              </a:rPr>
              <a:t>Project the expected performance improvement, benchmark against SOA. Compelling applications will demonstrate orders of magnitude improvement and strong scaling.</a:t>
            </a:r>
          </a:p>
          <a:p>
            <a:endParaRPr lang="en-US" b="1" dirty="0">
              <a:solidFill>
                <a:srgbClr val="FF0000"/>
              </a:solidFill>
              <a:latin typeface="Calibri" panose="020F0502020204030204" pitchFamily="34" charset="0"/>
              <a:cs typeface="Calibri" panose="020F0502020204030204" pitchFamily="34" charset="0"/>
            </a:endParaRPr>
          </a:p>
          <a:p>
            <a:r>
              <a:rPr lang="en-US" b="1" dirty="0">
                <a:solidFill>
                  <a:srgbClr val="FF0000"/>
                </a:solidFill>
                <a:latin typeface="Calibri" panose="020F0502020204030204" pitchFamily="34" charset="0"/>
                <a:cs typeface="Calibri" panose="020F0502020204030204" pitchFamily="34" charset="0"/>
              </a:rPr>
              <a:t>(Graphics or plots are more helpful than bullets.)</a:t>
            </a:r>
          </a:p>
        </p:txBody>
      </p:sp>
      <p:sp>
        <p:nvSpPr>
          <p:cNvPr id="4" name="TextBox 3"/>
          <p:cNvSpPr txBox="1"/>
          <p:nvPr/>
        </p:nvSpPr>
        <p:spPr>
          <a:xfrm>
            <a:off x="4705525" y="1198373"/>
            <a:ext cx="4133675" cy="954107"/>
          </a:xfrm>
          <a:prstGeom prst="rect">
            <a:avLst/>
          </a:prstGeom>
          <a:noFill/>
        </p:spPr>
        <p:txBody>
          <a:bodyPr wrap="square" rtlCol="0">
            <a:spAutoFit/>
          </a:bodyPr>
          <a:lstStyle/>
          <a:p>
            <a:r>
              <a:rPr lang="en-US" sz="1400" b="1" dirty="0">
                <a:solidFill>
                  <a:srgbClr val="FF0000"/>
                </a:solidFill>
                <a:latin typeface="Calibri" panose="020F0502020204030204" pitchFamily="34" charset="0"/>
                <a:cs typeface="Calibri" panose="020F0502020204030204" pitchFamily="34" charset="0"/>
              </a:rPr>
              <a:t>Summarize your technical approach and the innovative claims for the proposed research.</a:t>
            </a:r>
          </a:p>
          <a:p>
            <a:endParaRPr lang="en-US" sz="1400" b="1" dirty="0">
              <a:solidFill>
                <a:srgbClr val="FF0000"/>
              </a:solidFill>
              <a:latin typeface="Calibri" panose="020F0502020204030204" pitchFamily="34" charset="0"/>
              <a:cs typeface="Calibri" panose="020F0502020204030204" pitchFamily="34" charset="0"/>
            </a:endParaRPr>
          </a:p>
          <a:p>
            <a:r>
              <a:rPr lang="en-US" sz="1400" b="1" dirty="0">
                <a:solidFill>
                  <a:srgbClr val="FF0000"/>
                </a:solidFill>
                <a:latin typeface="Calibri" panose="020F0502020204030204" pitchFamily="34" charset="0"/>
                <a:cs typeface="Calibri" panose="020F0502020204030204" pitchFamily="34" charset="0"/>
              </a:rPr>
              <a:t>Highlight what is groundbreaking and unique.</a:t>
            </a:r>
            <a:endParaRPr lang="en-US" sz="1400" dirty="0">
              <a:latin typeface="Calibri" panose="020F0502020204030204" pitchFamily="34" charset="0"/>
              <a:cs typeface="Calibri" panose="020F0502020204030204" pitchFamily="34" charset="0"/>
            </a:endParaRPr>
          </a:p>
        </p:txBody>
      </p:sp>
      <p:sp>
        <p:nvSpPr>
          <p:cNvPr id="8" name="Text Placeholder 19"/>
          <p:cNvSpPr txBox="1">
            <a:spLocks/>
          </p:cNvSpPr>
          <p:nvPr/>
        </p:nvSpPr>
        <p:spPr>
          <a:xfrm>
            <a:off x="4705525" y="3973385"/>
            <a:ext cx="3956050" cy="2447751"/>
          </a:xfrm>
          <a:prstGeom prst="rect">
            <a:avLst/>
          </a:prstGeom>
        </p:spPr>
        <p:txBody>
          <a:bodyPr/>
          <a:lstStyle>
            <a:lvl1pPr marL="0" indent="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FF0000"/>
                </a:solidFill>
                <a:latin typeface="Calibri" panose="020F0502020204030204" pitchFamily="34" charset="0"/>
                <a:cs typeface="Calibri" panose="020F0502020204030204" pitchFamily="34" charset="0"/>
              </a:rPr>
              <a:t>Who is on your team and what are their roles, technical strengths, and unique capabilities?</a:t>
            </a:r>
            <a:endParaRPr lang="en-US" dirty="0">
              <a:latin typeface="Calibri" panose="020F0502020204030204" pitchFamily="34" charset="0"/>
              <a:cs typeface="Calibri" panose="020F0502020204030204" pitchFamily="34" charset="0"/>
            </a:endParaRPr>
          </a:p>
          <a:p>
            <a:r>
              <a:rPr lang="en-US" dirty="0">
                <a:solidFill>
                  <a:prstClr val="black"/>
                </a:solidFill>
                <a:latin typeface="Calibri" panose="020F0502020204030204" pitchFamily="34" charset="0"/>
                <a:cs typeface="Calibri" panose="020F0502020204030204" pitchFamily="34" charset="0"/>
              </a:rPr>
              <a:t>	</a:t>
            </a:r>
          </a:p>
        </p:txBody>
      </p:sp>
      <p:sp>
        <p:nvSpPr>
          <p:cNvPr id="2" name="Footer Placeholder 1"/>
          <p:cNvSpPr>
            <a:spLocks noGrp="1"/>
          </p:cNvSpPr>
          <p:nvPr>
            <p:ph type="ftr" sz="quarter" idx="10"/>
          </p:nvPr>
        </p:nvSpPr>
        <p:spPr>
          <a:xfrm>
            <a:off x="4921203" y="100207"/>
            <a:ext cx="4133675" cy="615409"/>
          </a:xfrm>
        </p:spPr>
        <p:txBody>
          <a:bodyPr/>
          <a:lstStyle/>
          <a:p>
            <a:pPr>
              <a:defRPr/>
            </a:pPr>
            <a:r>
              <a:rPr lang="en-US" sz="2200" b="1" dirty="0">
                <a:solidFill>
                  <a:schemeClr val="tx1"/>
                </a:solidFill>
                <a:latin typeface="Calibri" panose="020F0502020204030204" pitchFamily="34" charset="0"/>
                <a:cs typeface="Calibri" panose="020F0502020204030204" pitchFamily="34" charset="0"/>
              </a:rPr>
              <a:t>DARPA-PS-26-13 PICASSO</a:t>
            </a:r>
          </a:p>
          <a:p>
            <a:pPr>
              <a:defRPr/>
            </a:pPr>
            <a:r>
              <a:rPr lang="en-US" sz="1400" dirty="0">
                <a:solidFill>
                  <a:schemeClr val="tx1"/>
                </a:solidFill>
                <a:latin typeface="Calibri" panose="020F0502020204030204" pitchFamily="34" charset="0"/>
                <a:cs typeface="Calibri" panose="020F0502020204030204" pitchFamily="34" charset="0"/>
              </a:rPr>
              <a:t>           Proposal Summary Slide Template</a:t>
            </a:r>
          </a:p>
        </p:txBody>
      </p:sp>
      <p:sp>
        <p:nvSpPr>
          <p:cNvPr id="9" name="Footer Placeholder 1"/>
          <p:cNvSpPr txBox="1">
            <a:spLocks/>
          </p:cNvSpPr>
          <p:nvPr/>
        </p:nvSpPr>
        <p:spPr>
          <a:xfrm>
            <a:off x="1547358" y="6546205"/>
            <a:ext cx="6049284" cy="298450"/>
          </a:xfrm>
          <a:prstGeom prst="rect">
            <a:avLst/>
          </a:prstGeom>
        </p:spPr>
        <p:txBody>
          <a:bodyPr vert="horz" wrap="square" lIns="91440" tIns="45720" rIns="91440" bIns="45720" numCol="1" anchor="ctr" anchorCtr="0" compatLnSpc="1">
            <a:prstTxWarp prst="textNoShape">
              <a:avLst/>
            </a:prstTxWarp>
          </a:bodyPr>
          <a:lstStyle>
            <a:defPPr>
              <a:defRPr lang="en-US"/>
            </a:defPPr>
            <a:lvl1pPr marL="0" algn="ctr" defTabSz="914400" rtl="0" eaLnBrk="1" latinLnBrk="0" hangingPunct="1">
              <a:defRPr sz="900" kern="1200" baseline="0">
                <a:solidFill>
                  <a:srgbClr val="898989"/>
                </a:solidFill>
                <a:latin typeface="Tahoma"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Competition Sensitive Information – Distribution with Agreements Officer’s authorization only</a:t>
            </a:r>
          </a:p>
        </p:txBody>
      </p:sp>
    </p:spTree>
    <p:extLst>
      <p:ext uri="{BB962C8B-B14F-4D97-AF65-F5344CB8AC3E}">
        <p14:creationId xmlns:p14="http://schemas.microsoft.com/office/powerpoint/2010/main" val="3769729806"/>
      </p:ext>
    </p:extLst>
  </p:cSld>
  <p:clrMapOvr>
    <a:masterClrMapping/>
  </p:clrMapOvr>
</p:sld>
</file>

<file path=ppt/theme/theme1.xml><?xml version="1.0" encoding="utf-8"?>
<a:theme xmlns:a="http://schemas.openxmlformats.org/drawingml/2006/main" name="1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58C0CFCCB22B43B79A0509E7DC8806" ma:contentTypeVersion="14" ma:contentTypeDescription="Create a new document." ma:contentTypeScope="" ma:versionID="9215c482d3faf6110ca42dc76746f228">
  <xsd:schema xmlns:xsd="http://www.w3.org/2001/XMLSchema" xmlns:xs="http://www.w3.org/2001/XMLSchema" xmlns:p="http://schemas.microsoft.com/office/2006/metadata/properties" xmlns:ns2="72fc9e63-d55d-4a35-801d-86084f3275ae" xmlns:ns3="f3177eac-c39a-4bc7-a656-8959c1ca01a5" targetNamespace="http://schemas.microsoft.com/office/2006/metadata/properties" ma:root="true" ma:fieldsID="f280865a07544811d3eebe9368a9087e" ns2:_="" ns3:_="">
    <xsd:import namespace="72fc9e63-d55d-4a35-801d-86084f3275ae"/>
    <xsd:import namespace="f3177eac-c39a-4bc7-a656-8959c1ca01a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fc9e63-d55d-4a35-801d-86084f3275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9aa863f-a18b-4de0-9c78-b693d194da8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177eac-c39a-4bc7-a656-8959c1ca01a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aeaaf4f9-4db8-4895-9ea6-e2b7a169e78d}" ma:internalName="TaxCatchAll" ma:showField="CatchAllData" ma:web="f3177eac-c39a-4bc7-a656-8959c1ca01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3177eac-c39a-4bc7-a656-8959c1ca01a5" xsi:nil="true"/>
    <lcf76f155ced4ddcb4097134ff3c332f xmlns="72fc9e63-d55d-4a35-801d-86084f3275a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EE783A-2C37-4B40-94CE-E9B2ED2107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fc9e63-d55d-4a35-801d-86084f3275ae"/>
    <ds:schemaRef ds:uri="f3177eac-c39a-4bc7-a656-8959c1ca01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56492-EC65-421A-A2E1-BEC7125B3578}">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70f07ac-9c4e-426d-8efa-94bc421b75b5"/>
    <ds:schemaRef ds:uri="http://www.w3.org/XML/1998/namespace"/>
    <ds:schemaRef ds:uri="http://purl.org/dc/dcmitype/"/>
    <ds:schemaRef ds:uri="f3177eac-c39a-4bc7-a656-8959c1ca01a5"/>
    <ds:schemaRef ds:uri="72fc9e63-d55d-4a35-801d-86084f3275ae"/>
  </ds:schemaRefs>
</ds:datastoreItem>
</file>

<file path=customXml/itemProps3.xml><?xml version="1.0" encoding="utf-8"?>
<ds:datastoreItem xmlns:ds="http://schemas.openxmlformats.org/officeDocument/2006/customXml" ds:itemID="{C9064106-1CDD-40D6-8AAA-C10740CE9CE7}">
  <ds:schemaRefs>
    <ds:schemaRef ds:uri="http://schemas.microsoft.com/sharepoint/v3/contenttype/forms"/>
  </ds:schemaRefs>
</ds:datastoreItem>
</file>

<file path=docMetadata/LabelInfo.xml><?xml version="1.0" encoding="utf-8"?>
<clbl:labelList xmlns:clbl="http://schemas.microsoft.com/office/2020/mipLabelMetadata">
  <clbl:label id="{f84814b5-f44e-4690-9314-553e36b5f585}" enabled="0" method="" siteId="{f84814b5-f44e-4690-9314-553e36b5f585}" removed="1"/>
</clbl:labelList>
</file>

<file path=docProps/app.xml><?xml version="1.0" encoding="utf-8"?>
<Properties xmlns="http://schemas.openxmlformats.org/officeDocument/2006/extended-properties" xmlns:vt="http://schemas.openxmlformats.org/officeDocument/2006/docPropsVTypes">
  <Template>blank</Template>
  <TotalTime>2474</TotalTime>
  <Words>119</Words>
  <Application>Microsoft Office PowerPoint</Application>
  <PresentationFormat>On-screen Show (4:3)</PresentationFormat>
  <Paragraphs>17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MS PGothic</vt:lpstr>
      <vt:lpstr>Arial</vt:lpstr>
      <vt:lpstr>Calibri</vt:lpstr>
      <vt:lpstr>Tahoma</vt:lpstr>
      <vt:lpstr>Times New Roman</vt:lpstr>
      <vt:lpstr>1_blank</vt:lpstr>
      <vt:lpstr>Full Proposal Title Organization Name(s); Technical POC Name(s)</vt:lpstr>
    </vt:vector>
  </TitlesOfParts>
  <Company>Wyle Information Systems - DARPA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Name (Acronym) Office/PM</dc:title>
  <dc:creator>Emily VanSice</dc:creator>
  <cp:lastModifiedBy>Thurn, Leina (contr-mto)</cp:lastModifiedBy>
  <cp:revision>99</cp:revision>
  <cp:lastPrinted>2011-09-22T20:00:03Z</cp:lastPrinted>
  <dcterms:created xsi:type="dcterms:W3CDTF">2012-01-24T15:16:44Z</dcterms:created>
  <dcterms:modified xsi:type="dcterms:W3CDTF">2026-01-12T16:12:52Z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0x0101003458C0CFCCB22B43B79A0509E7DC8806</vt:lpwstr>
  </property>
</Properties>
</file>